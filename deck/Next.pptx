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8" r:id="rId14"/>
    <p:sldId id="269" r:id="rId15"/>
  </p:sldIdLst>
  <p:sldSz cx="12191365" cy="6858000"/>
  <p:notesSz cx="6858000" cy="12191365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5" name="Shape 3"/>
          <p:cNvSpPr/>
          <p:nvPr/>
        </p:nvSpPr>
        <p:spPr>
          <a:xfrm>
            <a:off x="5181448" y="6400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15151C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1448" y="6400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5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灵动岛</a:t>
            </a:r>
            <a:r>
              <a:rPr lang="en-US" sz="5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，是你的下一件事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住在 </a:t>
            </a:r>
            <a:r>
              <a:rPr lang="zh-CN" altLang="en-US" sz="19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灵动岛</a:t>
            </a:r>
            <a:r>
              <a:rPr lang="en-US" altLang="zh-CN" sz="19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r>
              <a:rPr lang="en-US" sz="19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 AI 任务管家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730088" y="4297680"/>
            <a:ext cx="731520" cy="27432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10" name="Text 8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5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人小队 · 48 小时 · Hackathon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待办散落六七个工具，AI agent 还要盯终端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2880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7171F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3856" y="2048256"/>
            <a:ext cx="118872" cy="118872"/>
          </a:xfrm>
          <a:prstGeom prst="ellipse">
            <a:avLst/>
          </a:prstGeom>
          <a:solidFill>
            <a:srgbClr val="3FD18B"/>
          </a:solidFill>
        </p:spPr>
      </p:sp>
      <p:sp>
        <p:nvSpPr>
          <p:cNvPr id="8" name="Text 6"/>
          <p:cNvSpPr/>
          <p:nvPr/>
        </p:nvSpPr>
        <p:spPr>
          <a:xfrm>
            <a:off x="1344168" y="1975104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33856" y="2395728"/>
            <a:ext cx="155448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10" name="Shape 8"/>
          <p:cNvSpPr/>
          <p:nvPr/>
        </p:nvSpPr>
        <p:spPr>
          <a:xfrm>
            <a:off x="1133856" y="2670048"/>
            <a:ext cx="128016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11" name="Shape 9"/>
          <p:cNvSpPr/>
          <p:nvPr/>
        </p:nvSpPr>
        <p:spPr>
          <a:xfrm>
            <a:off x="1133856" y="2907792"/>
            <a:ext cx="100584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12" name="Shape 10"/>
          <p:cNvSpPr/>
          <p:nvPr/>
        </p:nvSpPr>
        <p:spPr>
          <a:xfrm>
            <a:off x="2103120" y="2121408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21218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04288" y="2340864"/>
            <a:ext cx="118872" cy="118872"/>
          </a:xfrm>
          <a:prstGeom prst="ellipse">
            <a:avLst/>
          </a:prstGeom>
          <a:solidFill>
            <a:srgbClr val="5B8DEF"/>
          </a:solidFill>
        </p:spPr>
      </p:sp>
      <p:sp>
        <p:nvSpPr>
          <p:cNvPr id="14" name="Text 12"/>
          <p:cNvSpPr/>
          <p:nvPr/>
        </p:nvSpPr>
        <p:spPr>
          <a:xfrm>
            <a:off x="2514600" y="2267712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邮件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04288" y="2688336"/>
            <a:ext cx="155448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16" name="Shape 14"/>
          <p:cNvSpPr/>
          <p:nvPr/>
        </p:nvSpPr>
        <p:spPr>
          <a:xfrm>
            <a:off x="2304288" y="2962656"/>
            <a:ext cx="128016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17" name="Shape 15"/>
          <p:cNvSpPr/>
          <p:nvPr/>
        </p:nvSpPr>
        <p:spPr>
          <a:xfrm>
            <a:off x="2304288" y="3200400"/>
            <a:ext cx="100584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18" name="Shape 16"/>
          <p:cNvSpPr/>
          <p:nvPr/>
        </p:nvSpPr>
        <p:spPr>
          <a:xfrm>
            <a:off x="3273552" y="182880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7171F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048256"/>
            <a:ext cx="118872" cy="118872"/>
          </a:xfrm>
          <a:prstGeom prst="ellipse">
            <a:avLst/>
          </a:prstGeom>
          <a:solidFill>
            <a:srgbClr val="FFB23E"/>
          </a:solidFill>
        </p:spPr>
      </p:sp>
      <p:sp>
        <p:nvSpPr>
          <p:cNvPr id="20" name="Text 18"/>
          <p:cNvSpPr/>
          <p:nvPr/>
        </p:nvSpPr>
        <p:spPr>
          <a:xfrm>
            <a:off x="3685032" y="1975104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Jira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2395728"/>
            <a:ext cx="155448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22" name="Shape 20"/>
          <p:cNvSpPr/>
          <p:nvPr/>
        </p:nvSpPr>
        <p:spPr>
          <a:xfrm>
            <a:off x="3474720" y="2670048"/>
            <a:ext cx="128016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23" name="Shape 21"/>
          <p:cNvSpPr/>
          <p:nvPr/>
        </p:nvSpPr>
        <p:spPr>
          <a:xfrm>
            <a:off x="3474720" y="2907792"/>
            <a:ext cx="100584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24" name="Shape 22"/>
          <p:cNvSpPr/>
          <p:nvPr/>
        </p:nvSpPr>
        <p:spPr>
          <a:xfrm>
            <a:off x="4443984" y="2121408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21218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2340864"/>
            <a:ext cx="118872" cy="118872"/>
          </a:xfrm>
          <a:prstGeom prst="ellipse">
            <a:avLst/>
          </a:prstGeom>
          <a:solidFill>
            <a:srgbClr val="FF6B61"/>
          </a:solidFill>
        </p:spPr>
      </p:sp>
      <p:sp>
        <p:nvSpPr>
          <p:cNvPr id="26" name="Text 24"/>
          <p:cNvSpPr/>
          <p:nvPr/>
        </p:nvSpPr>
        <p:spPr>
          <a:xfrm>
            <a:off x="4855464" y="2267712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45152" y="2688336"/>
            <a:ext cx="155448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28" name="Shape 26"/>
          <p:cNvSpPr/>
          <p:nvPr/>
        </p:nvSpPr>
        <p:spPr>
          <a:xfrm>
            <a:off x="4645152" y="2962656"/>
            <a:ext cx="128016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29" name="Shape 27"/>
          <p:cNvSpPr/>
          <p:nvPr/>
        </p:nvSpPr>
        <p:spPr>
          <a:xfrm>
            <a:off x="4645152" y="3200400"/>
            <a:ext cx="100584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30" name="Shape 28"/>
          <p:cNvSpPr/>
          <p:nvPr/>
        </p:nvSpPr>
        <p:spPr>
          <a:xfrm>
            <a:off x="5614416" y="182880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7171F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15584" y="2048256"/>
            <a:ext cx="118872" cy="118872"/>
          </a:xfrm>
          <a:prstGeom prst="ellipse">
            <a:avLst/>
          </a:prstGeom>
          <a:solidFill>
            <a:srgbClr val="7C5CFF"/>
          </a:solidFill>
        </p:spPr>
      </p:sp>
      <p:sp>
        <p:nvSpPr>
          <p:cNvPr id="32" name="Text 30"/>
          <p:cNvSpPr/>
          <p:nvPr/>
        </p:nvSpPr>
        <p:spPr>
          <a:xfrm>
            <a:off x="6025896" y="1975104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15584" y="2395728"/>
            <a:ext cx="155448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34" name="Shape 32"/>
          <p:cNvSpPr/>
          <p:nvPr/>
        </p:nvSpPr>
        <p:spPr>
          <a:xfrm>
            <a:off x="5815584" y="2670048"/>
            <a:ext cx="128016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35" name="Shape 33"/>
          <p:cNvSpPr/>
          <p:nvPr/>
        </p:nvSpPr>
        <p:spPr>
          <a:xfrm>
            <a:off x="5815584" y="2907792"/>
            <a:ext cx="100584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36" name="Shape 34"/>
          <p:cNvSpPr/>
          <p:nvPr/>
        </p:nvSpPr>
        <p:spPr>
          <a:xfrm>
            <a:off x="6784848" y="2121408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21218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86016" y="2340864"/>
            <a:ext cx="118872" cy="118872"/>
          </a:xfrm>
          <a:prstGeom prst="ellipse">
            <a:avLst/>
          </a:prstGeom>
          <a:solidFill>
            <a:srgbClr val="FF5C8A"/>
          </a:solidFill>
        </p:spPr>
      </p:sp>
      <p:sp>
        <p:nvSpPr>
          <p:cNvPr id="38" name="Text 36"/>
          <p:cNvSpPr/>
          <p:nvPr/>
        </p:nvSpPr>
        <p:spPr>
          <a:xfrm>
            <a:off x="7196328" y="2267712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AI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86016" y="2688336"/>
            <a:ext cx="155448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40" name="Shape 38"/>
          <p:cNvSpPr/>
          <p:nvPr/>
        </p:nvSpPr>
        <p:spPr>
          <a:xfrm>
            <a:off x="6986016" y="2962656"/>
            <a:ext cx="128016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41" name="Shape 39"/>
          <p:cNvSpPr/>
          <p:nvPr/>
        </p:nvSpPr>
        <p:spPr>
          <a:xfrm>
            <a:off x="6986016" y="3200400"/>
            <a:ext cx="1005840" cy="64008"/>
          </a:xfrm>
          <a:prstGeom prst="rect">
            <a:avLst/>
          </a:prstGeom>
          <a:solidFill>
            <a:srgbClr val="26262F"/>
          </a:solidFill>
        </p:spPr>
      </p:sp>
      <p:sp>
        <p:nvSpPr>
          <p:cNvPr id="42" name="Shape 40"/>
          <p:cNvSpPr/>
          <p:nvPr/>
        </p:nvSpPr>
        <p:spPr>
          <a:xfrm>
            <a:off x="841248" y="4160520"/>
            <a:ext cx="384048" cy="384048"/>
          </a:xfrm>
          <a:prstGeom prst="ellipse">
            <a:avLst/>
          </a:prstGeom>
          <a:solidFill>
            <a:srgbClr val="7C5CFF"/>
          </a:solidFill>
        </p:spPr>
      </p:sp>
      <p:sp>
        <p:nvSpPr>
          <p:cNvPr id="43" name="Text 41"/>
          <p:cNvSpPr/>
          <p:nvPr/>
        </p:nvSpPr>
        <p:spPr>
          <a:xfrm>
            <a:off x="841248" y="41605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408176" y="4142232"/>
            <a:ext cx="9942271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录入门槛高 — 90% 的事在「想记」和「真记」之间被忘掉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41248" y="4764024"/>
            <a:ext cx="384048" cy="384048"/>
          </a:xfrm>
          <a:prstGeom prst="ellipse">
            <a:avLst/>
          </a:prstGeom>
          <a:solidFill>
            <a:srgbClr val="7C5CFF"/>
          </a:solidFill>
        </p:spPr>
      </p:sp>
      <p:sp>
        <p:nvSpPr>
          <p:cNvPr id="46" name="Text 44"/>
          <p:cNvSpPr/>
          <p:nvPr/>
        </p:nvSpPr>
        <p:spPr>
          <a:xfrm>
            <a:off x="841248" y="476402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408176" y="4745736"/>
            <a:ext cx="9942271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提醒一闪而过 — 没有余光可感知的紧急度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841248" y="5367528"/>
            <a:ext cx="384048" cy="384048"/>
          </a:xfrm>
          <a:prstGeom prst="ellipse">
            <a:avLst/>
          </a:prstGeom>
          <a:solidFill>
            <a:srgbClr val="7C5CFF"/>
          </a:solidFill>
        </p:spPr>
      </p:sp>
      <p:sp>
        <p:nvSpPr>
          <p:cNvPr id="49" name="Text 47"/>
          <p:cNvSpPr/>
          <p:nvPr/>
        </p:nvSpPr>
        <p:spPr>
          <a:xfrm>
            <a:off x="841248" y="536752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3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408176" y="5349240"/>
            <a:ext cx="9942271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早上开机要开一堆窗口才知道今天干嘛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把一直空着的刘海，变成第二块屏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1627632"/>
            <a:ext cx="10509199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不是又一个待办清单——一个永远在线的 AI 助手：收缩态只占两翼不挡内容，悬停展开、移开收回，余光就知急不急。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41248" y="320040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5151C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200400"/>
            <a:ext cx="2286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45536" y="3611880"/>
            <a:ext cx="4389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84448" y="320040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5151C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3200400"/>
            <a:ext cx="2286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88736" y="3611880"/>
            <a:ext cx="4389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27648" y="320040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5151C"/>
          </a:solidFill>
          <a:ln w="12700">
            <a:solidFill>
              <a:srgbClr val="3FD1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200400"/>
            <a:ext cx="2286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1936" y="3611880"/>
            <a:ext cx="4389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70848" y="320040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5151C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3200400"/>
            <a:ext cx="2286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1248" y="5029200"/>
            <a:ext cx="10509199" cy="603504"/>
          </a:xfrm>
          <a:prstGeom prst="roundRect">
            <a:avLst>
              <a:gd name="adj" fmla="val 9091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5084064"/>
            <a:ext cx="986911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记录、追踪、提醒、复盘，全在这一小块闭环。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核心理念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按「你和它的关系」重新归类，零重叠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1627632"/>
            <a:ext cx="10509199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一天里所有要你操心的东西，按关系分五类——其中要 review 的，是 AI agent 的会话。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41248" y="2926080"/>
            <a:ext cx="1975104" cy="2286000"/>
          </a:xfrm>
          <a:prstGeom prst="roundRect">
            <a:avLst>
              <a:gd name="adj" fmla="val 41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035808"/>
            <a:ext cx="64008" cy="206654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9" name="Text 7"/>
          <p:cNvSpPr/>
          <p:nvPr/>
        </p:nvSpPr>
        <p:spPr>
          <a:xfrm>
            <a:off x="1078992" y="3200400"/>
            <a:ext cx="156362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Todo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4434840"/>
            <a:ext cx="1563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要做完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80944" y="2926080"/>
            <a:ext cx="1975104" cy="2286000"/>
          </a:xfrm>
          <a:prstGeom prst="roundRect">
            <a:avLst>
              <a:gd name="adj" fmla="val 41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80944" y="3035808"/>
            <a:ext cx="64008" cy="2066544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13" name="Text 11"/>
          <p:cNvSpPr/>
          <p:nvPr/>
        </p:nvSpPr>
        <p:spPr>
          <a:xfrm>
            <a:off x="3218688" y="3200400"/>
            <a:ext cx="156362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WorkItem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18688" y="4434840"/>
            <a:ext cx="1563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要推进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2926080"/>
            <a:ext cx="1975104" cy="2286000"/>
          </a:xfrm>
          <a:prstGeom prst="roundRect">
            <a:avLst>
              <a:gd name="adj" fmla="val 41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3035808"/>
            <a:ext cx="64008" cy="2066544"/>
          </a:xfrm>
          <a:prstGeom prst="rect">
            <a:avLst/>
          </a:prstGeom>
          <a:solidFill>
            <a:srgbClr val="3FD18B"/>
          </a:solidFill>
        </p:spPr>
      </p:sp>
      <p:sp>
        <p:nvSpPr>
          <p:cNvPr id="17" name="Text 15"/>
          <p:cNvSpPr/>
          <p:nvPr/>
        </p:nvSpPr>
        <p:spPr>
          <a:xfrm>
            <a:off x="5358384" y="3200400"/>
            <a:ext cx="156362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58384" y="4434840"/>
            <a:ext cx="1563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D1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要参加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0336" y="2926080"/>
            <a:ext cx="1975104" cy="2286000"/>
          </a:xfrm>
          <a:prstGeom prst="roundRect">
            <a:avLst>
              <a:gd name="adj" fmla="val 41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0336" y="3035808"/>
            <a:ext cx="64008" cy="206654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21" name="Text 19"/>
          <p:cNvSpPr/>
          <p:nvPr/>
        </p:nvSpPr>
        <p:spPr>
          <a:xfrm>
            <a:off x="7498080" y="3200400"/>
            <a:ext cx="156362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Message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4434840"/>
            <a:ext cx="1563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要读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00032" y="2926080"/>
            <a:ext cx="1975104" cy="2286000"/>
          </a:xfrm>
          <a:prstGeom prst="roundRect">
            <a:avLst>
              <a:gd name="adj" fmla="val 41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37776" y="3200400"/>
            <a:ext cx="1563624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Agent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37776" y="4434840"/>
            <a:ext cx="1563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 review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1248" y="5486400"/>
            <a:ext cx="10509199" cy="603504"/>
          </a:xfrm>
          <a:prstGeom prst="roundRect">
            <a:avLst>
              <a:gd name="adj" fmla="val 9091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5541264"/>
            <a:ext cx="986911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记住最后这个：它既是产品的一块，也正是我们这 48 小时的工作方式。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截图秒变结构化待办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1627632"/>
            <a:ext cx="10509199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F2 截图 → AI 解析 → 3 秒生成待办，零录入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41248" y="228600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95728"/>
            <a:ext cx="64008" cy="170078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9" name="Text 7"/>
          <p:cNvSpPr/>
          <p:nvPr/>
        </p:nvSpPr>
        <p:spPr>
          <a:xfrm>
            <a:off x="1152144" y="2523744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8DE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52144" y="3035808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2144" y="3493008"/>
            <a:ext cx="267919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F2 快捷键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05656" y="3017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53128" y="228600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53128" y="2395728"/>
            <a:ext cx="64008" cy="1700784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15" name="Text 13"/>
          <p:cNvSpPr/>
          <p:nvPr/>
        </p:nvSpPr>
        <p:spPr>
          <a:xfrm>
            <a:off x="4764024" y="2523744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64024" y="3035808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解析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3493008"/>
            <a:ext cx="267919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视觉识别 + 理解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17536" y="3017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65008" y="228600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65008" y="2395728"/>
            <a:ext cx="64008" cy="1700784"/>
          </a:xfrm>
          <a:prstGeom prst="rect">
            <a:avLst/>
          </a:prstGeom>
          <a:solidFill>
            <a:srgbClr val="3FD18B"/>
          </a:solidFill>
        </p:spPr>
      </p:sp>
      <p:sp>
        <p:nvSpPr>
          <p:cNvPr id="21" name="Text 19"/>
          <p:cNvSpPr/>
          <p:nvPr/>
        </p:nvSpPr>
        <p:spPr>
          <a:xfrm>
            <a:off x="8375904" y="2523744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18B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75904" y="3035808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待办生成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75904" y="3493008"/>
            <a:ext cx="267919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 / 优先级 / 截止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" y="4754880"/>
            <a:ext cx="10509199" cy="877824"/>
          </a:xfrm>
          <a:prstGeom prst="roundRect">
            <a:avLst>
              <a:gd name="adj" fmla="val 6250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4809744"/>
            <a:ext cx="9869119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自动判断优先级（</a:t>
            </a:r>
            <a:r>
              <a:rPr lang="zh-CN" alt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r>
              <a:rPr lang="en-US" altLang="zh-CN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</a:t>
            </a:r>
            <a:r>
              <a:rPr lang="zh-CN" alt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r>
              <a:rPr lang="en-US" altLang="zh-CN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</a:t>
            </a:r>
            <a:r>
              <a:rPr lang="zh-CN" alt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</a:t>
            </a: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）、建议截止时间、挂原图可点开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一屏管全部工作流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5074920" cy="1325880"/>
          </a:xfrm>
          <a:prstGeom prst="roundRect">
            <a:avLst>
              <a:gd name="adj" fmla="val 620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21408"/>
            <a:ext cx="64008" cy="110642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8" name="Text 6"/>
          <p:cNvSpPr/>
          <p:nvPr/>
        </p:nvSpPr>
        <p:spPr>
          <a:xfrm>
            <a:off x="1152144" y="221284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2144" y="2651760"/>
            <a:ext cx="4572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今日该关注的事，AI 给建议工作顺序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2011680"/>
            <a:ext cx="5074920" cy="1325880"/>
          </a:xfrm>
          <a:prstGeom prst="roundRect">
            <a:avLst>
              <a:gd name="adj" fmla="val 620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1928" y="2121408"/>
            <a:ext cx="64008" cy="1106424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12" name="Text 10"/>
          <p:cNvSpPr/>
          <p:nvPr/>
        </p:nvSpPr>
        <p:spPr>
          <a:xfrm>
            <a:off x="6592824" y="221284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2824" y="2651760"/>
            <a:ext cx="4572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Jira 工单 + GitHub PR，新分配降落卡可跳转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3520440"/>
            <a:ext cx="5074920" cy="1325880"/>
          </a:xfrm>
          <a:prstGeom prst="roundRect">
            <a:avLst>
              <a:gd name="adj" fmla="val 620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30168"/>
            <a:ext cx="64008" cy="1106424"/>
          </a:xfrm>
          <a:prstGeom prst="rect">
            <a:avLst/>
          </a:prstGeom>
          <a:solidFill>
            <a:srgbClr val="3FD18B"/>
          </a:solidFill>
        </p:spPr>
      </p:sp>
      <p:sp>
        <p:nvSpPr>
          <p:cNvPr id="16" name="Text 14"/>
          <p:cNvSpPr/>
          <p:nvPr/>
        </p:nvSpPr>
        <p:spPr>
          <a:xfrm>
            <a:off x="1152144" y="372160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Calendar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52144" y="4160520"/>
            <a:ext cx="4572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 / 提醒 / 个人任务并到一条时间线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1928" y="3520440"/>
            <a:ext cx="5074920" cy="1325880"/>
          </a:xfrm>
          <a:prstGeom prst="roundRect">
            <a:avLst>
              <a:gd name="adj" fmla="val 620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1928" y="3630168"/>
            <a:ext cx="64008" cy="110642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20" name="Text 18"/>
          <p:cNvSpPr/>
          <p:nvPr/>
        </p:nvSpPr>
        <p:spPr>
          <a:xfrm>
            <a:off x="6592824" y="372160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Inbox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92824" y="4160520"/>
            <a:ext cx="4572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邮件 + @我的 Jira/Confluence，收成一句话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" y="5212080"/>
            <a:ext cx="10509199" cy="603504"/>
          </a:xfrm>
          <a:prstGeom prst="roundRect">
            <a:avLst>
              <a:gd name="adj" fmla="val 9091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5266944"/>
            <a:ext cx="986911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提醒分四级辉光、余光就知急不急；高优「提前准备」不自动消失，留</a:t>
            </a:r>
            <a:r>
              <a:rPr lang="zh-CN" alt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直到你处理。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给写代码的人：Agent 会话监控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1627632"/>
            <a:ext cx="10509199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越来越多，但你得盯着终端。Next 把 agent 状态搬上刘海。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41248" y="283464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15151C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834640"/>
            <a:ext cx="21031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运行中徽章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18688" y="3200400"/>
            <a:ext cx="38404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38728" y="283464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15151C"/>
          </a:solidFill>
          <a:ln w="12700">
            <a:solidFill>
              <a:srgbClr val="FFB2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834640"/>
            <a:ext cx="21031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待确认橙铃铛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16168" y="3200400"/>
            <a:ext cx="38404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36208" y="283464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15151C"/>
          </a:solidFill>
          <a:ln w="12700">
            <a:solidFill>
              <a:srgbClr val="3FD1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834640"/>
            <a:ext cx="21031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完成弹卡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13648" y="3200400"/>
            <a:ext cx="38404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33688" y="283464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15151C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2834640"/>
            <a:ext cx="21031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跳回终端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" y="4572000"/>
            <a:ext cx="10509199" cy="877824"/>
          </a:xfrm>
          <a:prstGeom prst="roundRect">
            <a:avLst>
              <a:gd name="adj" fmla="val 6250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4626864"/>
            <a:ext cx="9869119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运行中 / 待确认实时计数 · 子任务完成不打扰，只整轮结束才提示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跳回 Terminal / iTerm / tmux pane · Claude Code 与 opencode 都支持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晨晚报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晨报排程、晚报复盘，清零有仪式感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41248" y="219456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04288"/>
            <a:ext cx="64008" cy="1609344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8" name="Text 6"/>
          <p:cNvSpPr/>
          <p:nvPr/>
        </p:nvSpPr>
        <p:spPr>
          <a:xfrm>
            <a:off x="1152144" y="2432304"/>
            <a:ext cx="4526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AM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52144" y="294436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早报 · 今天先做什么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2144" y="3401568"/>
            <a:ext cx="4507992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今日优先 / 会议 / 工单，建议工作顺序自动避开会议时段。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81928" y="219456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81928" y="2304288"/>
            <a:ext cx="64008" cy="1609344"/>
          </a:xfrm>
          <a:prstGeom prst="rect">
            <a:avLst/>
          </a:prstGeom>
          <a:solidFill>
            <a:srgbClr val="FFB23E"/>
          </a:solidFill>
        </p:spPr>
      </p:sp>
      <p:sp>
        <p:nvSpPr>
          <p:cNvPr id="13" name="Text 11"/>
          <p:cNvSpPr/>
          <p:nvPr/>
        </p:nvSpPr>
        <p:spPr>
          <a:xfrm>
            <a:off x="6592824" y="2432304"/>
            <a:ext cx="4526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23E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PM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92824" y="294436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晚报 · 复盘今天 · 预警明天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92824" y="3401568"/>
            <a:ext cx="4507992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完成与结转一目了然，明天的高优先级提前点出来。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297680"/>
            <a:ext cx="10509199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融合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每个环节</a:t>
            </a:r>
            <a:r>
              <a:rPr lang="zh-CN" alt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都在</a:t>
            </a:r>
            <a:r>
              <a:rPr lang="en-US" sz="3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干活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41248" y="228600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2697480"/>
            <a:ext cx="146304" cy="146304"/>
          </a:xfrm>
          <a:prstGeom prst="ellipse">
            <a:avLst/>
          </a:prstGeom>
          <a:solidFill>
            <a:srgbClr val="5B8DEF"/>
          </a:solidFill>
        </p:spPr>
      </p:sp>
      <p:sp>
        <p:nvSpPr>
          <p:cNvPr id="8" name="Text 6"/>
          <p:cNvSpPr/>
          <p:nvPr/>
        </p:nvSpPr>
        <p:spPr>
          <a:xfrm>
            <a:off x="1408176" y="228600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截图视觉解析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53128" y="228600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697480"/>
            <a:ext cx="146304" cy="146304"/>
          </a:xfrm>
          <a:prstGeom prst="ellipse">
            <a:avLst/>
          </a:prstGeom>
          <a:solidFill>
            <a:srgbClr val="7C5CFF"/>
          </a:solidFill>
        </p:spPr>
      </p:sp>
      <p:sp>
        <p:nvSpPr>
          <p:cNvPr id="11" name="Text 9"/>
          <p:cNvSpPr/>
          <p:nvPr/>
        </p:nvSpPr>
        <p:spPr>
          <a:xfrm>
            <a:off x="5020056" y="228600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紧急度判断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228600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9328" y="2697480"/>
            <a:ext cx="146304" cy="146304"/>
          </a:xfrm>
          <a:prstGeom prst="ellipse">
            <a:avLst/>
          </a:prstGeom>
          <a:solidFill>
            <a:srgbClr val="3FD18B"/>
          </a:solidFill>
        </p:spPr>
      </p:sp>
      <p:sp>
        <p:nvSpPr>
          <p:cNvPr id="14" name="Text 12"/>
          <p:cNvSpPr/>
          <p:nvPr/>
        </p:nvSpPr>
        <p:spPr>
          <a:xfrm>
            <a:off x="8631936" y="228600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邮件一句话摘要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1248" y="365760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15568" y="4069080"/>
            <a:ext cx="146304" cy="146304"/>
          </a:xfrm>
          <a:prstGeom prst="ellipse">
            <a:avLst/>
          </a:prstGeom>
          <a:solidFill>
            <a:srgbClr val="5B8DEF"/>
          </a:solidFill>
        </p:spPr>
      </p:sp>
      <p:sp>
        <p:nvSpPr>
          <p:cNvPr id="17" name="Text 15"/>
          <p:cNvSpPr/>
          <p:nvPr/>
        </p:nvSpPr>
        <p:spPr>
          <a:xfrm>
            <a:off x="1408176" y="365760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晨报排程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3128" y="365760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4069080"/>
            <a:ext cx="146304" cy="146304"/>
          </a:xfrm>
          <a:prstGeom prst="ellipse">
            <a:avLst/>
          </a:prstGeom>
          <a:solidFill>
            <a:srgbClr val="7C5CFF"/>
          </a:solidFill>
        </p:spPr>
      </p:sp>
      <p:sp>
        <p:nvSpPr>
          <p:cNvPr id="20" name="Text 18"/>
          <p:cNvSpPr/>
          <p:nvPr/>
        </p:nvSpPr>
        <p:spPr>
          <a:xfrm>
            <a:off x="5020056" y="365760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晚报复盘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65008" y="365760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39328" y="4069080"/>
            <a:ext cx="146304" cy="146304"/>
          </a:xfrm>
          <a:prstGeom prst="ellipse">
            <a:avLst/>
          </a:prstGeom>
          <a:solidFill>
            <a:srgbClr val="3FD18B"/>
          </a:solidFill>
        </p:spPr>
      </p:sp>
      <p:sp>
        <p:nvSpPr>
          <p:cNvPr id="23" name="Text 21"/>
          <p:cNvSpPr/>
          <p:nvPr/>
        </p:nvSpPr>
        <p:spPr>
          <a:xfrm>
            <a:off x="8631936" y="365760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Today 多源建议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1248" y="5166360"/>
            <a:ext cx="10509199" cy="603504"/>
          </a:xfrm>
          <a:prstGeom prst="roundRect">
            <a:avLst>
              <a:gd name="adj" fmla="val 9091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5221224"/>
            <a:ext cx="986911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Today 这条建议——综合待办 / 工单 / 会议多源给结论。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实现过程 · VIBECODING 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我们怎么 review AI agent Sessio</a:t>
            </a:r>
            <a:r>
              <a:rPr lang="en-US" sz="2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n的代码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1248" y="1554480"/>
            <a:ext cx="10509199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回到第五个概念——AgentSession = 要 review。我们干的就是 review 一堆 AI 写的代码：用要解决的工作方式，造出了这个产品。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23317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31720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95728" y="2359152"/>
            <a:ext cx="237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33472" y="23317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331720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openspec spec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87952" y="2359152"/>
            <a:ext cx="237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25696" y="23317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331720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实现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0176" y="2359152"/>
            <a:ext cx="237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2331720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swift build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2359152"/>
            <a:ext cx="237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10144" y="23317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331720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 review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64624" y="2359152"/>
            <a:ext cx="237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02368" y="2331720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38944" y="2331720"/>
            <a:ext cx="14996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" y="320040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3310128"/>
            <a:ext cx="64008" cy="106070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26" name="Text 24"/>
          <p:cNvSpPr/>
          <p:nvPr/>
        </p:nvSpPr>
        <p:spPr>
          <a:xfrm>
            <a:off x="1133856" y="3346704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广度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3856" y="3712464"/>
            <a:ext cx="46634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 / 调试 / 测试 / 文档 / commit / CI 修复，全程 AI 参与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281928" y="320040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1928" y="3310128"/>
            <a:ext cx="64008" cy="1060704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30" name="Text 28"/>
          <p:cNvSpPr/>
          <p:nvPr/>
        </p:nvSpPr>
        <p:spPr>
          <a:xfrm>
            <a:off x="6574536" y="3346704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高级技巧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74536" y="3712464"/>
            <a:ext cx="46634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openspec spec-driven、context7 查文档、taste skill 打磨 UI、CODING_GUIDELINES 当硬规则、多 agent 靠 git+spec 协调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841248" y="461772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" y="4727448"/>
            <a:ext cx="64008" cy="1060704"/>
          </a:xfrm>
          <a:prstGeom prst="rect">
            <a:avLst/>
          </a:prstGeom>
          <a:solidFill>
            <a:srgbClr val="3FD18B"/>
          </a:solidFill>
        </p:spPr>
      </p:sp>
      <p:sp>
        <p:nvSpPr>
          <p:cNvPr id="34" name="Text 32"/>
          <p:cNvSpPr/>
          <p:nvPr/>
        </p:nvSpPr>
        <p:spPr>
          <a:xfrm>
            <a:off x="1133856" y="4764024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参与关键决策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33856" y="5129784"/>
            <a:ext cx="46634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状态机 + 单一数据源架构、五大概念模型，和 AI 反复 brainstorm 定下来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6281928" y="461772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1928" y="4727448"/>
            <a:ext cx="64008" cy="1060704"/>
          </a:xfrm>
          <a:prstGeom prst="rect">
            <a:avLst/>
          </a:prstGeom>
          <a:solidFill>
            <a:srgbClr val="5B8DEF"/>
          </a:solidFill>
        </p:spPr>
      </p:sp>
      <p:sp>
        <p:nvSpPr>
          <p:cNvPr id="38" name="Text 36"/>
          <p:cNvSpPr/>
          <p:nvPr/>
        </p:nvSpPr>
        <p:spPr>
          <a:xfrm>
            <a:off x="6574536" y="4764024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验证与修正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74536" y="5129784"/>
            <a:ext cx="466344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改完必过 swift build + Debug 冒烟，再人工 review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566928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5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扩展点 · MCP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914400"/>
            <a:ext cx="10509199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作为平台：MCP Server 让 agent 写入刘海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627632"/>
            <a:ext cx="10509199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现在已经能「读」agent 状态，下一步开放 MCP server，让任何 agent / 脚本 / CI 直接往 Next 写提醒和待办。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41248" y="329184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15151C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291840"/>
            <a:ext cx="3566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 Agent / 脚本 / CI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53128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47488" y="3611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7C5CFF"/>
          </a:solidFill>
        </p:spPr>
      </p:sp>
      <p:sp>
        <p:nvSpPr>
          <p:cNvPr id="11" name="Text 9"/>
          <p:cNvSpPr/>
          <p:nvPr/>
        </p:nvSpPr>
        <p:spPr>
          <a:xfrm>
            <a:off x="5047488" y="361188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MCP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93408" y="36118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242048" y="329184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0E0E14"/>
          </a:solidFill>
          <a:ln w="15875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2048" y="3291840"/>
            <a:ext cx="3566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· 刘海弹提醒 / 待办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1248" y="5394960"/>
            <a:ext cx="10509199" cy="603504"/>
          </a:xfrm>
          <a:prstGeom prst="roundRect">
            <a:avLst>
              <a:gd name="adj" fmla="val 9091"/>
            </a:avLst>
          </a:prstGeom>
          <a:solidFill>
            <a:srgbClr val="15122A"/>
          </a:solidFill>
          <a:ln w="12700">
            <a:solidFill>
              <a:srgbClr val="2C2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449824"/>
            <a:ext cx="986911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从「读」agent 状态，到让它能「写」——Next 变成你所有 agent 的统一提醒出口。（写入为下一步，非已完成）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550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9C2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Slide 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5E68"/>
                </a:solidFill>
                <a:latin typeface="Helvetica Neue" panose="02000503000000020004" pitchFamily="34" charset="0"/>
                <a:ea typeface="Helvetica Neue" panose="02000503000000020004" pitchFamily="34" charset="-122"/>
                <a:cs typeface="Helvetica Neue" panose="02000503000000020004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5" name="Text 3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</a:t>
            </a:r>
            <a:r>
              <a:rPr lang="zh-CN" altLang="en-US" sz="4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你的灵动岛</a:t>
            </a:r>
            <a:endParaRPr lang="en-US" sz="4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4F4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都住着一个 AI 任务管家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730088" y="4434840"/>
            <a:ext cx="731520" cy="27432"/>
          </a:xfrm>
          <a:prstGeom prst="rect">
            <a:avLst/>
          </a:prstGeom>
          <a:solidFill>
            <a:srgbClr val="7C5CFF"/>
          </a:solidFill>
        </p:spPr>
      </p:sp>
      <p:sp>
        <p:nvSpPr>
          <p:cNvPr id="7" name="Text 5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，是你的下一件事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1874</Words>
  <Application>WPS Presentation</Application>
  <PresentationFormat>On-screen Show (16:9)</PresentationFormat>
  <Paragraphs>312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SimSun</vt:lpstr>
      <vt:lpstr>Wingdings</vt:lpstr>
      <vt:lpstr>Helvetica Neue</vt:lpstr>
      <vt:lpstr>Helvetica Neue</vt:lpstr>
      <vt:lpstr>Helvetica Neue</vt:lpstr>
      <vt:lpstr>PingFang SC</vt:lpstr>
      <vt:lpstr>苹方-简</vt:lpstr>
      <vt:lpstr>PingFang SC</vt:lpstr>
      <vt:lpstr>PingFang SC</vt:lpstr>
      <vt:lpstr>Calibri</vt:lpstr>
      <vt:lpstr>宋体-简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— 刘海，是你的下一件事</dc:title>
  <dc:creator>Next</dc:creator>
  <dc:subject>PptxGenJS Presentation</dc:subject>
  <cp:lastModifiedBy>dev</cp:lastModifiedBy>
  <cp:revision>3</cp:revision>
  <dcterms:created xsi:type="dcterms:W3CDTF">2026-06-14T02:03:11Z</dcterms:created>
  <dcterms:modified xsi:type="dcterms:W3CDTF">2026-06-14T02:03:11Z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4E0D32820B3B1573BE082E6ADA920FEE_42</vt:lpwstr>
  </property>
  <property fmtid="{D5CDD505-2E9C-101B-9397-08002B2CF9AE}" pid="3" name="KSOProductBuildVer">
    <vt:lpwstr>1033-6.11.0.8608</vt:lpwstr>
  </property>
</Properties>
</file>